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87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6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5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82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85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36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23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68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89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693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047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307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78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428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81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20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91FF9C-4FB5-4D16-BA83-F4CB5C41D69B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553AF5-0119-4771-96D4-C777E41E2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6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4747A8-C823-0916-4C43-84FF852D8A53}"/>
              </a:ext>
            </a:extLst>
          </p:cNvPr>
          <p:cNvSpPr txBox="1"/>
          <p:nvPr/>
        </p:nvSpPr>
        <p:spPr>
          <a:xfrm>
            <a:off x="1564106" y="140186"/>
            <a:ext cx="9288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360 Education </a:t>
            </a:r>
            <a:r>
              <a:rPr lang="en-IN" sz="2800" b="1" dirty="0" err="1"/>
              <a:t>Pvt.</a:t>
            </a:r>
            <a:r>
              <a:rPr lang="en-IN" sz="2800" b="1" dirty="0"/>
              <a:t> Ltd. – Business Performance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CE891-FD5D-4A28-326D-8B8B35B09547}"/>
              </a:ext>
            </a:extLst>
          </p:cNvPr>
          <p:cNvSpPr txBox="1"/>
          <p:nvPr/>
        </p:nvSpPr>
        <p:spPr>
          <a:xfrm>
            <a:off x="1973179" y="1125958"/>
            <a:ext cx="87349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End-to-End Power BI Dashboard Project Report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Submitted By</a:t>
            </a:r>
          </a:p>
          <a:p>
            <a:pPr>
              <a:buNone/>
            </a:pPr>
            <a:r>
              <a:rPr lang="en-IN" sz="2400" b="1" dirty="0"/>
              <a:t>Name: Pratik Kitukale Patil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Project: Business Performance Analytics Dashboard</a:t>
            </a:r>
          </a:p>
          <a:p>
            <a:pPr>
              <a:buNone/>
            </a:pPr>
            <a:r>
              <a:rPr lang="en-IN" sz="2400" b="1" dirty="0"/>
              <a:t>Tool: Microsoft Power BI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Domain: Education Management System</a:t>
            </a:r>
          </a:p>
          <a:p>
            <a:pPr>
              <a:buNone/>
            </a:pPr>
            <a:r>
              <a:rPr lang="en-IN" sz="2400" b="1" dirty="0"/>
              <a:t>Project Type: End-to-End Data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1059659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9F78A-D59B-1EA2-DF77-BC8A55885FE3}"/>
              </a:ext>
            </a:extLst>
          </p:cNvPr>
          <p:cNvSpPr txBox="1"/>
          <p:nvPr/>
        </p:nvSpPr>
        <p:spPr>
          <a:xfrm>
            <a:off x="2346158" y="252664"/>
            <a:ext cx="679483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Table of Contents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Executive Summary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Business Problem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Project Objectives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Dataset Overview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Technology Stack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Data 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Data Cleaning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DAX Measures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Dashboard Overview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Key Insights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Business Recommendations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Challenges Faced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Learning Outcomes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335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15E548-5EE7-8385-4EDD-BBF1CFCA4255}"/>
              </a:ext>
            </a:extLst>
          </p:cNvPr>
          <p:cNvSpPr txBox="1"/>
          <p:nvPr/>
        </p:nvSpPr>
        <p:spPr>
          <a:xfrm>
            <a:off x="2505575" y="421702"/>
            <a:ext cx="60939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Executive Summary</a:t>
            </a:r>
          </a:p>
          <a:p>
            <a:endParaRPr lang="en-IN" sz="2400" b="1" dirty="0"/>
          </a:p>
          <a:p>
            <a:pPr>
              <a:buNone/>
            </a:pPr>
            <a:r>
              <a:rPr lang="en-IN" sz="2400" dirty="0"/>
              <a:t>360 Education </a:t>
            </a:r>
            <a:r>
              <a:rPr lang="en-IN" sz="2400" dirty="0" err="1"/>
              <a:t>Pvt.</a:t>
            </a:r>
            <a:r>
              <a:rPr lang="en-IN" sz="2400" dirty="0"/>
              <a:t> Ltd. manages multiple training branches offering professional courses. Due to increasing admissions and business operations, management required a centralized dashboard to monitor admissions, marketing performance, placements, and financial performance.</a:t>
            </a:r>
          </a:p>
          <a:p>
            <a:pPr>
              <a:buNone/>
            </a:pPr>
            <a:r>
              <a:rPr lang="en-IN" sz="2400" dirty="0"/>
              <a:t>This project transforms raw Excel data into interactive dashboards using Microsoft Power BI, enabling management to make informed business decisions through real-time KPI monitoring and visual analytics.</a:t>
            </a:r>
          </a:p>
        </p:txBody>
      </p:sp>
    </p:spTree>
    <p:extLst>
      <p:ext uri="{BB962C8B-B14F-4D97-AF65-F5344CB8AC3E}">
        <p14:creationId xmlns:p14="http://schemas.microsoft.com/office/powerpoint/2010/main" val="393954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4AA7A8-7C93-517E-ACC7-DDC07FAEB17E}"/>
              </a:ext>
            </a:extLst>
          </p:cNvPr>
          <p:cNvSpPr txBox="1"/>
          <p:nvPr/>
        </p:nvSpPr>
        <p:spPr>
          <a:xfrm>
            <a:off x="1916028" y="0"/>
            <a:ext cx="609399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Business Problem</a:t>
            </a:r>
          </a:p>
          <a:p>
            <a:pPr>
              <a:buNone/>
            </a:pPr>
            <a:r>
              <a:rPr lang="en-IN" sz="2000" dirty="0"/>
              <a:t>The organization stores data across multiple Excel files, making it difficult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Track admissions across branches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 marketing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Evaluate </a:t>
            </a:r>
            <a:r>
              <a:rPr lang="en-IN" sz="2000" dirty="0" err="1"/>
              <a:t>counselor</a:t>
            </a:r>
            <a:r>
              <a:rPr lang="en-IN" sz="2000" dirty="0"/>
              <a:t> effectiveness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Analyze</a:t>
            </a:r>
            <a:r>
              <a:rPr lang="en-IN" sz="2000" dirty="0"/>
              <a:t> placement success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 fee collection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branch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reports quickly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AF7E60-ED7D-C3E5-354A-A8384361664F}"/>
              </a:ext>
            </a:extLst>
          </p:cNvPr>
          <p:cNvSpPr txBox="1"/>
          <p:nvPr/>
        </p:nvSpPr>
        <p:spPr>
          <a:xfrm>
            <a:off x="1916028" y="3429000"/>
            <a:ext cx="60939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3. Project Objectives</a:t>
            </a:r>
          </a:p>
          <a:p>
            <a:pPr>
              <a:buNone/>
            </a:pPr>
            <a:r>
              <a:rPr lang="en-IN" sz="2000" dirty="0"/>
              <a:t>The main objectives of the project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Build an interactive Power BI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Analyze</a:t>
            </a:r>
            <a:r>
              <a:rPr lang="en-IN" sz="2000" dirty="0"/>
              <a:t> admissions and lead conversions.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Track placement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 financial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branch-wise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management decision-making.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automated KPI reporting. </a:t>
            </a:r>
          </a:p>
        </p:txBody>
      </p:sp>
    </p:spTree>
    <p:extLst>
      <p:ext uri="{BB962C8B-B14F-4D97-AF65-F5344CB8AC3E}">
        <p14:creationId xmlns:p14="http://schemas.microsoft.com/office/powerpoint/2010/main" val="46631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A3271A-6B90-A118-7B85-911F04E7A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837117"/>
              </p:ext>
            </p:extLst>
          </p:nvPr>
        </p:nvGraphicFramePr>
        <p:xfrm>
          <a:off x="2603828" y="1979298"/>
          <a:ext cx="7779682" cy="4133844"/>
        </p:xfrm>
        <a:graphic>
          <a:graphicData uri="http://schemas.openxmlformats.org/drawingml/2006/table">
            <a:tbl>
              <a:tblPr/>
              <a:tblGrid>
                <a:gridCol w="3889841">
                  <a:extLst>
                    <a:ext uri="{9D8B030D-6E8A-4147-A177-3AD203B41FA5}">
                      <a16:colId xmlns:a16="http://schemas.microsoft.com/office/drawing/2014/main" val="1420046167"/>
                    </a:ext>
                  </a:extLst>
                </a:gridCol>
                <a:gridCol w="3889841">
                  <a:extLst>
                    <a:ext uri="{9D8B030D-6E8A-4147-A177-3AD203B41FA5}">
                      <a16:colId xmlns:a16="http://schemas.microsoft.com/office/drawing/2014/main" val="214988863"/>
                    </a:ext>
                  </a:extLst>
                </a:gridCol>
              </a:tblGrid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Table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300466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Admissions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Student admission details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816811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Calls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Call records made to students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15538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Marketing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Lead generation data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216103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Placements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Placement information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080821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Fees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Fee payment records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483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Branches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Branch details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45476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Courses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Course information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892314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Students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Student information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405925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Employees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Employee details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42809"/>
                  </a:ext>
                </a:extLst>
              </a:tr>
              <a:tr h="284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 Table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Calendar for time analysis</a:t>
                      </a:r>
                    </a:p>
                  </a:txBody>
                  <a:tcPr marL="71005" marR="71005" marT="35502" marB="355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9866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197D9E-6988-C5E9-F05E-421EF8071B0E}"/>
              </a:ext>
            </a:extLst>
          </p:cNvPr>
          <p:cNvSpPr txBox="1"/>
          <p:nvPr/>
        </p:nvSpPr>
        <p:spPr>
          <a:xfrm>
            <a:off x="2603828" y="0"/>
            <a:ext cx="60939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4. Dataset Overview</a:t>
            </a:r>
          </a:p>
          <a:p>
            <a:pPr>
              <a:buNone/>
            </a:pPr>
            <a:r>
              <a:rPr lang="en-IN" sz="2000" dirty="0"/>
              <a:t>The project uses multiple Excel tables representing different business operations.</a:t>
            </a:r>
          </a:p>
          <a:p>
            <a:pPr>
              <a:buNone/>
            </a:pPr>
            <a:r>
              <a:rPr lang="en-IN" sz="2000" dirty="0"/>
              <a:t>Total records processed: Approximately </a:t>
            </a:r>
            <a:r>
              <a:rPr lang="en-IN" sz="2000" b="1" dirty="0"/>
              <a:t>10,000+ records</a:t>
            </a:r>
            <a:r>
              <a:rPr lang="en-IN" sz="2000" dirty="0"/>
              <a:t> across all tables.</a:t>
            </a:r>
          </a:p>
        </p:txBody>
      </p:sp>
    </p:spTree>
    <p:extLst>
      <p:ext uri="{BB962C8B-B14F-4D97-AF65-F5344CB8AC3E}">
        <p14:creationId xmlns:p14="http://schemas.microsoft.com/office/powerpoint/2010/main" val="29353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790E0C-4514-AD31-AD59-D23D27958330}"/>
              </a:ext>
            </a:extLst>
          </p:cNvPr>
          <p:cNvSpPr txBox="1"/>
          <p:nvPr/>
        </p:nvSpPr>
        <p:spPr>
          <a:xfrm>
            <a:off x="2926681" y="0"/>
            <a:ext cx="60939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5. Technology Stack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Microsoft Power BI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Power Query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DAX (Data Analysis Expressions)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Microsoft Excel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Star Schema Data </a:t>
            </a:r>
            <a:r>
              <a:rPr lang="en-IN" sz="2000" dirty="0" err="1"/>
              <a:t>Modeling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1BFD9-18FA-B529-062D-7226C560224D}"/>
              </a:ext>
            </a:extLst>
          </p:cNvPr>
          <p:cNvSpPr txBox="1"/>
          <p:nvPr/>
        </p:nvSpPr>
        <p:spPr>
          <a:xfrm>
            <a:off x="2926681" y="1938992"/>
            <a:ext cx="60939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6. Data </a:t>
            </a:r>
            <a:r>
              <a:rPr lang="en-IN" sz="2000" b="1" dirty="0" err="1"/>
              <a:t>Modeling</a:t>
            </a:r>
            <a:endParaRPr lang="en-IN" sz="2000" b="1" dirty="0"/>
          </a:p>
          <a:p>
            <a:pPr>
              <a:buNone/>
            </a:pPr>
            <a:r>
              <a:rPr lang="en-IN" sz="2000" dirty="0"/>
              <a:t>A Star Schema model was implemented.</a:t>
            </a:r>
          </a:p>
          <a:p>
            <a:pPr>
              <a:buNone/>
            </a:pPr>
            <a:r>
              <a:rPr lang="en-IN" sz="2000" b="1" dirty="0"/>
              <a:t>Fact Tables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Admissions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Fees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Marketing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Placements </a:t>
            </a:r>
          </a:p>
          <a:p>
            <a:pPr>
              <a:buNone/>
            </a:pPr>
            <a:r>
              <a:rPr lang="en-IN" sz="2000" b="1" dirty="0"/>
              <a:t>Dimension Tables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Students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Courses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Branches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Employees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Date Table </a:t>
            </a:r>
          </a:p>
          <a:p>
            <a:pPr>
              <a:buNone/>
            </a:pPr>
            <a:r>
              <a:rPr lang="en-IN" sz="2000" dirty="0"/>
              <a:t>Relationships were created using primary and foreign keys to enable efficient filtering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206184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58EFE-4CF0-D188-0E51-FC267ADB17F1}"/>
              </a:ext>
            </a:extLst>
          </p:cNvPr>
          <p:cNvSpPr txBox="1"/>
          <p:nvPr/>
        </p:nvSpPr>
        <p:spPr>
          <a:xfrm>
            <a:off x="2878555" y="348968"/>
            <a:ext cx="60939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7. Data Cleaning</a:t>
            </a:r>
          </a:p>
          <a:p>
            <a:pPr>
              <a:buNone/>
            </a:pPr>
            <a:r>
              <a:rPr lang="en-IN" sz="2000" dirty="0"/>
              <a:t>Data cleaning was performed using Power Query.</a:t>
            </a:r>
          </a:p>
          <a:p>
            <a:pPr>
              <a:buNone/>
            </a:pPr>
            <a:r>
              <a:rPr lang="en-IN" sz="2000" b="1" dirty="0"/>
              <a:t>Cleaning Activities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Removed duplicate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Handled missing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Corrected data types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Standardized text values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Removed unnecessary columns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Created calculated columns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Fixed inconsistent formatting </a:t>
            </a:r>
          </a:p>
          <a:p>
            <a:pPr>
              <a:buNone/>
            </a:pPr>
            <a:r>
              <a:rPr lang="en-IN" sz="2000" dirty="0"/>
              <a:t>Result: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Improved data quality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Increased reporting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Reduced errors </a:t>
            </a:r>
          </a:p>
        </p:txBody>
      </p:sp>
    </p:spTree>
    <p:extLst>
      <p:ext uri="{BB962C8B-B14F-4D97-AF65-F5344CB8AC3E}">
        <p14:creationId xmlns:p14="http://schemas.microsoft.com/office/powerpoint/2010/main" val="178095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A3AFD-CEB4-2265-6D01-EA863D41515A}"/>
              </a:ext>
            </a:extLst>
          </p:cNvPr>
          <p:cNvSpPr txBox="1"/>
          <p:nvPr/>
        </p:nvSpPr>
        <p:spPr>
          <a:xfrm>
            <a:off x="3022934" y="228123"/>
            <a:ext cx="5639803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8. DAX Measures</a:t>
            </a:r>
          </a:p>
          <a:p>
            <a:pPr>
              <a:buNone/>
            </a:pPr>
            <a:r>
              <a:rPr lang="en-IN" sz="1600" dirty="0"/>
              <a:t>Several DAX measures were created to calculate business KPIs.</a:t>
            </a:r>
          </a:p>
          <a:p>
            <a:pPr>
              <a:buNone/>
            </a:pPr>
            <a:r>
              <a:rPr lang="en-IN" sz="1600" dirty="0"/>
              <a:t>Examples include:</a:t>
            </a:r>
          </a:p>
          <a:p>
            <a:pPr>
              <a:buNone/>
            </a:pPr>
            <a:r>
              <a:rPr lang="en-IN" sz="1600" b="1" dirty="0"/>
              <a:t>Sales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Leads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Converted Leads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Lead Conversion 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Effective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Effective Call 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Average Revenue </a:t>
            </a:r>
          </a:p>
          <a:p>
            <a:pPr>
              <a:buNone/>
            </a:pPr>
            <a:r>
              <a:rPr lang="en-IN" sz="1600" b="1" dirty="0"/>
              <a:t>Placement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Placed Students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Placement 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Average Salary Package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Placement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Active Placement Students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Students Receiving 5 Calls </a:t>
            </a:r>
          </a:p>
          <a:p>
            <a:pPr>
              <a:buNone/>
            </a:pPr>
            <a:r>
              <a:rPr lang="en-IN" sz="1600" b="1" dirty="0"/>
              <a:t>Financial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Revenue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Total Collected Fees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Pending Fees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Collection Efficiency 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Pending Students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Average Course Fee</a:t>
            </a:r>
          </a:p>
        </p:txBody>
      </p:sp>
    </p:spTree>
    <p:extLst>
      <p:ext uri="{BB962C8B-B14F-4D97-AF65-F5344CB8AC3E}">
        <p14:creationId xmlns:p14="http://schemas.microsoft.com/office/powerpoint/2010/main" val="385045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63B410-4661-87C5-B7DA-552BC971DC31}"/>
              </a:ext>
            </a:extLst>
          </p:cNvPr>
          <p:cNvSpPr txBox="1"/>
          <p:nvPr/>
        </p:nvSpPr>
        <p:spPr>
          <a:xfrm>
            <a:off x="1844842" y="138785"/>
            <a:ext cx="94808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Dashboard 1 – Executive Overview Dashboard</a:t>
            </a:r>
          </a:p>
          <a:p>
            <a:pPr>
              <a:buNone/>
            </a:pPr>
            <a:r>
              <a:rPr lang="en-IN" b="1" dirty="0"/>
              <a:t>📊 Key Insights</a:t>
            </a:r>
          </a:p>
          <a:p>
            <a:pPr>
              <a:buNone/>
            </a:pPr>
            <a:r>
              <a:rPr lang="en-IN" b="1" dirty="0"/>
              <a:t>1. Overall Business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institute has generated a </a:t>
            </a:r>
            <a:r>
              <a:rPr lang="en-IN" b="1" dirty="0"/>
              <a:t>total revenue of ₹66 Million</a:t>
            </a:r>
            <a:r>
              <a:rPr lang="en-IN" dirty="0"/>
              <a:t> from </a:t>
            </a:r>
            <a:r>
              <a:rPr lang="en-IN" b="1" dirty="0"/>
              <a:t>2,000 student admissions</a:t>
            </a:r>
            <a:r>
              <a:rPr lang="en-IN" dirty="0"/>
              <a:t>, indicating strong business growth. </a:t>
            </a:r>
          </a:p>
          <a:p>
            <a:pPr>
              <a:buNone/>
            </a:pPr>
            <a:r>
              <a:rPr lang="en-IN" b="1" dirty="0"/>
              <a:t>2. Branch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Karve Nagar</a:t>
            </a:r>
            <a:r>
              <a:rPr lang="en-IN" dirty="0"/>
              <a:t> is the highest revenue-generating branch with </a:t>
            </a:r>
            <a:r>
              <a:rPr lang="en-IN" b="1" dirty="0"/>
              <a:t>₹14.2 Million</a:t>
            </a:r>
            <a:r>
              <a:rPr lang="en-IN" dirty="0"/>
              <a:t>, while </a:t>
            </a:r>
            <a:r>
              <a:rPr lang="en-IN" b="1" dirty="0"/>
              <a:t>Chinchwad</a:t>
            </a:r>
            <a:r>
              <a:rPr lang="en-IN" dirty="0"/>
              <a:t> contributes the lowest revenue (</a:t>
            </a:r>
            <a:r>
              <a:rPr lang="en-IN" b="1" dirty="0"/>
              <a:t>₹12.4 Million</a:t>
            </a:r>
            <a:r>
              <a:rPr lang="en-IN" dirty="0"/>
              <a:t>). </a:t>
            </a:r>
          </a:p>
          <a:p>
            <a:pPr>
              <a:buNone/>
            </a:pPr>
            <a:r>
              <a:rPr lang="en-IN" b="1" dirty="0"/>
              <a:t>3. Student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Student </a:t>
            </a:r>
            <a:r>
              <a:rPr lang="en-IN" dirty="0" err="1"/>
              <a:t>enrollment</a:t>
            </a:r>
            <a:r>
              <a:rPr lang="en-IN" dirty="0"/>
              <a:t> is well distributed across all courses, with </a:t>
            </a:r>
            <a:r>
              <a:rPr lang="en-IN" b="1" dirty="0"/>
              <a:t>Python Full Stack</a:t>
            </a:r>
            <a:r>
              <a:rPr lang="en-IN" dirty="0"/>
              <a:t> having the highest number of students (410), followed closely by </a:t>
            </a:r>
            <a:r>
              <a:rPr lang="en-IN" b="1" dirty="0"/>
              <a:t>Data Analytics</a:t>
            </a:r>
            <a:r>
              <a:rPr lang="en-IN" dirty="0"/>
              <a:t> (405). </a:t>
            </a:r>
          </a:p>
          <a:p>
            <a:pPr>
              <a:buNone/>
            </a:pPr>
            <a:r>
              <a:rPr lang="en-IN" b="1" dirty="0"/>
              <a:t>4. Placement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overall placement rate is </a:t>
            </a:r>
            <a:r>
              <a:rPr lang="en-IN" b="1" dirty="0"/>
              <a:t>34.85%</a:t>
            </a:r>
            <a:r>
              <a:rPr lang="en-IN" dirty="0"/>
              <a:t>, which means approximately one out of every three admitted students secures a placement. </a:t>
            </a:r>
          </a:p>
          <a:p>
            <a:pPr>
              <a:buNone/>
            </a:pPr>
            <a:r>
              <a:rPr lang="en-IN" b="1" dirty="0"/>
              <a:t>5. Monthly Revenue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Revenue shows a gradual decline over the reporting period, indicating a reduction in admissions or fee collection in recent months. </a:t>
            </a:r>
          </a:p>
          <a:p>
            <a:pPr>
              <a:buNone/>
            </a:pPr>
            <a:r>
              <a:rPr lang="en-IN" b="1" dirty="0"/>
              <a:t>6. Monthly Admission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Admissions have decreased from </a:t>
            </a:r>
            <a:r>
              <a:rPr lang="en-IN" b="1" dirty="0"/>
              <a:t>146 admissions</a:t>
            </a:r>
            <a:r>
              <a:rPr lang="en-IN" dirty="0"/>
              <a:t> in the highest month to </a:t>
            </a:r>
            <a:r>
              <a:rPr lang="en-IN" b="1" dirty="0"/>
              <a:t>55 admissions</a:t>
            </a:r>
            <a:r>
              <a:rPr lang="en-IN" dirty="0"/>
              <a:t> in the latest month, showing a declining admission trend.</a:t>
            </a:r>
          </a:p>
        </p:txBody>
      </p:sp>
    </p:spTree>
    <p:extLst>
      <p:ext uri="{BB962C8B-B14F-4D97-AF65-F5344CB8AC3E}">
        <p14:creationId xmlns:p14="http://schemas.microsoft.com/office/powerpoint/2010/main" val="55146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F2779-7770-18C1-D116-8FA2C1495B79}"/>
              </a:ext>
            </a:extLst>
          </p:cNvPr>
          <p:cNvSpPr txBox="1"/>
          <p:nvPr/>
        </p:nvSpPr>
        <p:spPr>
          <a:xfrm>
            <a:off x="1652338" y="293326"/>
            <a:ext cx="956109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Dashboard 2 – Sales &amp; Admission Analytics</a:t>
            </a:r>
          </a:p>
          <a:p>
            <a:pPr>
              <a:buNone/>
            </a:pPr>
            <a:r>
              <a:rPr lang="en-IN" b="1" dirty="0"/>
              <a:t>📊 Key Insights</a:t>
            </a:r>
          </a:p>
          <a:p>
            <a:pPr>
              <a:buNone/>
            </a:pPr>
            <a:r>
              <a:rPr lang="en-IN" b="1" dirty="0"/>
              <a:t>1. Lead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organization generated </a:t>
            </a:r>
            <a:r>
              <a:rPr lang="en-IN" b="1" dirty="0"/>
              <a:t>2,000 leads</a:t>
            </a:r>
            <a:r>
              <a:rPr lang="en-IN" dirty="0"/>
              <a:t>, out of which </a:t>
            </a:r>
            <a:r>
              <a:rPr lang="en-IN" b="1" dirty="0"/>
              <a:t>638 were successfully converted</a:t>
            </a:r>
            <a:r>
              <a:rPr lang="en-IN" dirty="0"/>
              <a:t>, resulting in a </a:t>
            </a:r>
            <a:r>
              <a:rPr lang="en-IN" b="1" dirty="0"/>
              <a:t>31.90% lead conversion rate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2. Call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total of </a:t>
            </a:r>
            <a:r>
              <a:rPr lang="en-IN" b="1" dirty="0"/>
              <a:t>18K calls</a:t>
            </a:r>
            <a:r>
              <a:rPr lang="en-IN" dirty="0"/>
              <a:t> were made, with an </a:t>
            </a:r>
            <a:r>
              <a:rPr lang="en-IN" b="1" dirty="0"/>
              <a:t>effective call rate of 39.34%</a:t>
            </a:r>
            <a:r>
              <a:rPr lang="en-IN" dirty="0"/>
              <a:t>, indicating scope for improving </a:t>
            </a:r>
            <a:r>
              <a:rPr lang="en-IN" dirty="0" err="1"/>
              <a:t>counselor</a:t>
            </a:r>
            <a:r>
              <a:rPr lang="en-IN" dirty="0"/>
              <a:t> communication. </a:t>
            </a:r>
          </a:p>
          <a:p>
            <a:pPr>
              <a:buNone/>
            </a:pPr>
            <a:r>
              <a:rPr lang="en-IN" b="1" dirty="0"/>
              <a:t>3. Revenue Efficiency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average revenue generated per admission is </a:t>
            </a:r>
            <a:r>
              <a:rPr lang="en-IN" b="1" dirty="0"/>
              <a:t>₹33.03K</a:t>
            </a:r>
            <a:r>
              <a:rPr lang="en-IN" dirty="0"/>
              <a:t>, reflecting a healthy revenue contribution per enrolled student. </a:t>
            </a:r>
          </a:p>
          <a:p>
            <a:pPr>
              <a:buNone/>
            </a:pPr>
            <a:r>
              <a:rPr lang="en-IN" b="1" dirty="0"/>
              <a:t>4. Lead Source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LinkedIn</a:t>
            </a:r>
            <a:r>
              <a:rPr lang="en-IN" dirty="0"/>
              <a:t> is the highest-performing lead source, contributing the maximum converted leads. </a:t>
            </a:r>
          </a:p>
          <a:p>
            <a:pPr>
              <a:buNone/>
            </a:pPr>
            <a:r>
              <a:rPr lang="en-IN" b="1" dirty="0"/>
              <a:t>5. </a:t>
            </a:r>
            <a:r>
              <a:rPr lang="en-IN" b="1" dirty="0" err="1"/>
              <a:t>Counselor</a:t>
            </a:r>
            <a:r>
              <a:rPr lang="en-IN" b="1" dirty="0"/>
              <a:t>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Counselor</a:t>
            </a:r>
            <a:r>
              <a:rPr lang="en-IN" dirty="0"/>
              <a:t> performance varies significantly, with some </a:t>
            </a:r>
            <a:r>
              <a:rPr lang="en-IN" dirty="0" err="1"/>
              <a:t>counselors</a:t>
            </a:r>
            <a:r>
              <a:rPr lang="en-IN" dirty="0"/>
              <a:t> generating noticeably higher admissions and revenue than others. </a:t>
            </a:r>
          </a:p>
          <a:p>
            <a:pPr>
              <a:buNone/>
            </a:pPr>
            <a:r>
              <a:rPr lang="en-IN" b="1" dirty="0"/>
              <a:t>6. Branch Conversion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Branch conversion rates are relatively consistent, indicating standardized admission processes across branches. </a:t>
            </a:r>
          </a:p>
        </p:txBody>
      </p:sp>
    </p:spTree>
    <p:extLst>
      <p:ext uri="{BB962C8B-B14F-4D97-AF65-F5344CB8AC3E}">
        <p14:creationId xmlns:p14="http://schemas.microsoft.com/office/powerpoint/2010/main" val="2305833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FFFF75-148F-17A4-7FDD-DF16419CB53A}"/>
              </a:ext>
            </a:extLst>
          </p:cNvPr>
          <p:cNvSpPr txBox="1"/>
          <p:nvPr/>
        </p:nvSpPr>
        <p:spPr>
          <a:xfrm>
            <a:off x="1941095" y="62857"/>
            <a:ext cx="95129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Dashboard 3 – Placement Analytics</a:t>
            </a:r>
          </a:p>
          <a:p>
            <a:pPr>
              <a:buNone/>
            </a:pPr>
            <a:r>
              <a:rPr lang="en-IN" b="1" dirty="0"/>
              <a:t>📊 Key Insights</a:t>
            </a:r>
          </a:p>
          <a:p>
            <a:pPr>
              <a:buNone/>
            </a:pPr>
            <a:r>
              <a:rPr lang="en-IN" b="1" dirty="0"/>
              <a:t>1. Placement Success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Out of </a:t>
            </a:r>
            <a:r>
              <a:rPr lang="en-IN" b="1" dirty="0"/>
              <a:t>2,000 admitted students</a:t>
            </a:r>
            <a:r>
              <a:rPr lang="en-IN" dirty="0"/>
              <a:t>, </a:t>
            </a:r>
            <a:r>
              <a:rPr lang="en-IN" b="1" dirty="0"/>
              <a:t>697 students</a:t>
            </a:r>
            <a:r>
              <a:rPr lang="en-IN" dirty="0"/>
              <a:t> were successfully placed, resulting in an overall placement rate of </a:t>
            </a:r>
            <a:r>
              <a:rPr lang="en-IN" b="1" dirty="0"/>
              <a:t>34.85%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2. Active Placement Pipeline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638 students</a:t>
            </a:r>
            <a:r>
              <a:rPr lang="en-IN" dirty="0"/>
              <a:t> are actively participating in placement activities, indicating a healthy placement pipeline. </a:t>
            </a:r>
          </a:p>
          <a:p>
            <a:pPr>
              <a:buNone/>
            </a:pPr>
            <a:r>
              <a:rPr lang="en-IN" b="1" dirty="0"/>
              <a:t>3. Salary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average salary package offered is </a:t>
            </a:r>
            <a:r>
              <a:rPr lang="en-IN" b="1" dirty="0"/>
              <a:t>5.24 LPA</a:t>
            </a:r>
            <a:r>
              <a:rPr lang="en-IN" dirty="0"/>
              <a:t>, reflecting competitive placement opportunities. </a:t>
            </a:r>
          </a:p>
          <a:p>
            <a:pPr>
              <a:buNone/>
            </a:pPr>
            <a:r>
              <a:rPr lang="en-IN" b="1" dirty="0"/>
              <a:t>4. Course-wise Placement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Software Testing</a:t>
            </a:r>
            <a:r>
              <a:rPr lang="en-IN" dirty="0"/>
              <a:t> has the highest placement rate (</a:t>
            </a:r>
            <a:r>
              <a:rPr lang="en-IN" b="1" dirty="0"/>
              <a:t>37%</a:t>
            </a:r>
            <a:r>
              <a:rPr lang="en-IN" dirty="0"/>
              <a:t>), making it the best-performing course in terms of placements. </a:t>
            </a:r>
          </a:p>
          <a:p>
            <a:pPr>
              <a:buNone/>
            </a:pPr>
            <a:r>
              <a:rPr lang="en-IN" b="1" dirty="0"/>
              <a:t>5. Company-wise Recruitment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Capgemini</a:t>
            </a:r>
            <a:r>
              <a:rPr lang="en-IN" dirty="0"/>
              <a:t> recruited the highest number of students, followed by </a:t>
            </a:r>
            <a:r>
              <a:rPr lang="en-IN" b="1" dirty="0"/>
              <a:t>TCS</a:t>
            </a:r>
            <a:r>
              <a:rPr lang="en-IN" dirty="0"/>
              <a:t>, </a:t>
            </a:r>
            <a:r>
              <a:rPr lang="en-IN" b="1" dirty="0"/>
              <a:t>Tech Mahindra</a:t>
            </a:r>
            <a:r>
              <a:rPr lang="en-IN" dirty="0"/>
              <a:t>, </a:t>
            </a:r>
            <a:r>
              <a:rPr lang="en-IN" b="1" dirty="0"/>
              <a:t>Accenture</a:t>
            </a:r>
            <a:r>
              <a:rPr lang="en-IN" dirty="0"/>
              <a:t>, </a:t>
            </a:r>
            <a:r>
              <a:rPr lang="en-IN" b="1" dirty="0"/>
              <a:t>Wipro</a:t>
            </a:r>
            <a:r>
              <a:rPr lang="en-IN" dirty="0"/>
              <a:t>, </a:t>
            </a:r>
            <a:r>
              <a:rPr lang="en-IN" b="1" dirty="0"/>
              <a:t>Cognizant</a:t>
            </a:r>
            <a:r>
              <a:rPr lang="en-IN" dirty="0"/>
              <a:t>, and </a:t>
            </a:r>
            <a:r>
              <a:rPr lang="en-IN" b="1" dirty="0"/>
              <a:t>Infosys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6. Monthly Placement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Placement numbers gradually decline across the reporting period, suggesting seasonal recruitment patterns or reduced hiring activity. </a:t>
            </a:r>
          </a:p>
        </p:txBody>
      </p:sp>
    </p:spTree>
    <p:extLst>
      <p:ext uri="{BB962C8B-B14F-4D97-AF65-F5344CB8AC3E}">
        <p14:creationId xmlns:p14="http://schemas.microsoft.com/office/powerpoint/2010/main" val="486453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C98188-AA84-92E7-1D30-BFA6CA4581BC}"/>
              </a:ext>
            </a:extLst>
          </p:cNvPr>
          <p:cNvSpPr txBox="1"/>
          <p:nvPr/>
        </p:nvSpPr>
        <p:spPr>
          <a:xfrm>
            <a:off x="2037347" y="58846"/>
            <a:ext cx="863065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Dashboard 4 – Financial Analytics</a:t>
            </a:r>
          </a:p>
          <a:p>
            <a:pPr>
              <a:buNone/>
            </a:pPr>
            <a:r>
              <a:rPr lang="en-IN" b="1" dirty="0"/>
              <a:t>📊 Key Insights</a:t>
            </a:r>
          </a:p>
          <a:p>
            <a:pPr>
              <a:buNone/>
            </a:pPr>
            <a:r>
              <a:rPr lang="en-IN" b="1" dirty="0"/>
              <a:t>1. Revenue Performance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organization generated </a:t>
            </a:r>
            <a:r>
              <a:rPr lang="en-IN" b="1" dirty="0"/>
              <a:t>₹66 Million</a:t>
            </a:r>
            <a:r>
              <a:rPr lang="en-IN" dirty="0"/>
              <a:t> in total revenue, demonstrating strong financial performance. </a:t>
            </a:r>
          </a:p>
          <a:p>
            <a:pPr>
              <a:buNone/>
            </a:pPr>
            <a:r>
              <a:rPr lang="en-IN" b="1" dirty="0"/>
              <a:t>2. Fee Collection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₹52 Million</a:t>
            </a:r>
            <a:r>
              <a:rPr lang="en-IN" dirty="0"/>
              <a:t> has been successfully collected, while </a:t>
            </a:r>
            <a:r>
              <a:rPr lang="en-IN" b="1" dirty="0"/>
              <a:t>₹14 Million</a:t>
            </a:r>
            <a:r>
              <a:rPr lang="en-IN" dirty="0"/>
              <a:t> remains pending. </a:t>
            </a:r>
          </a:p>
          <a:p>
            <a:pPr>
              <a:buNone/>
            </a:pPr>
            <a:r>
              <a:rPr lang="en-IN" b="1" dirty="0"/>
              <a:t>3. Collection Efficiency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fee collection efficiency stands at </a:t>
            </a:r>
            <a:r>
              <a:rPr lang="en-IN" b="1" dirty="0"/>
              <a:t>79.45%</a:t>
            </a:r>
            <a:r>
              <a:rPr lang="en-IN" dirty="0"/>
              <a:t>, indicating that the majority of fees have been recovered. </a:t>
            </a:r>
          </a:p>
          <a:p>
            <a:pPr>
              <a:buNone/>
            </a:pPr>
            <a:r>
              <a:rPr lang="en-IN" b="1" dirty="0"/>
              <a:t>4. Branch Revenue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Karve Nagar</a:t>
            </a:r>
            <a:r>
              <a:rPr lang="en-IN" dirty="0"/>
              <a:t> generated the highest revenue (</a:t>
            </a:r>
            <a:r>
              <a:rPr lang="en-IN" b="1" dirty="0"/>
              <a:t>₹14.2 Million</a:t>
            </a:r>
            <a:r>
              <a:rPr lang="en-IN" dirty="0"/>
              <a:t>), whereas </a:t>
            </a:r>
            <a:r>
              <a:rPr lang="en-IN" b="1" dirty="0"/>
              <a:t>Chinchwad</a:t>
            </a:r>
            <a:r>
              <a:rPr lang="en-IN" dirty="0"/>
              <a:t> generated the lowest (</a:t>
            </a:r>
            <a:r>
              <a:rPr lang="en-IN" b="1" dirty="0"/>
              <a:t>₹12.4 Million</a:t>
            </a:r>
            <a:r>
              <a:rPr lang="en-IN" dirty="0"/>
              <a:t>). </a:t>
            </a:r>
          </a:p>
          <a:p>
            <a:pPr>
              <a:buNone/>
            </a:pPr>
            <a:r>
              <a:rPr lang="en-IN" b="1" dirty="0"/>
              <a:t>5. Course Revenue Contribution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Analytics</a:t>
            </a:r>
            <a:r>
              <a:rPr lang="en-IN" dirty="0"/>
              <a:t> and </a:t>
            </a:r>
            <a:r>
              <a:rPr lang="en-IN" b="1" dirty="0"/>
              <a:t>Data Science</a:t>
            </a:r>
            <a:r>
              <a:rPr lang="en-IN" dirty="0"/>
              <a:t> contribute the highest share of overall revenue, making them the institute's most profitable courses. </a:t>
            </a:r>
          </a:p>
          <a:p>
            <a:pPr>
              <a:buNone/>
            </a:pPr>
            <a:r>
              <a:rPr lang="en-IN" b="1" dirty="0"/>
              <a:t>6. Payment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students have completed their fee payments (</a:t>
            </a:r>
            <a:r>
              <a:rPr lang="en-IN" b="1" dirty="0"/>
              <a:t>73.25%</a:t>
            </a:r>
            <a:r>
              <a:rPr lang="en-IN" dirty="0"/>
              <a:t>), while </a:t>
            </a:r>
            <a:r>
              <a:rPr lang="en-IN" b="1" dirty="0"/>
              <a:t>26.75%</a:t>
            </a:r>
            <a:r>
              <a:rPr lang="en-IN" dirty="0"/>
              <a:t> still have pending payments.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Cash</a:t>
            </a:r>
            <a:r>
              <a:rPr lang="en-IN" dirty="0"/>
              <a:t> is the most preferred payment mode, followed closely by </a:t>
            </a:r>
            <a:r>
              <a:rPr lang="en-IN" b="1" dirty="0"/>
              <a:t>Card</a:t>
            </a:r>
            <a:r>
              <a:rPr lang="en-IN" dirty="0"/>
              <a:t>, </a:t>
            </a:r>
            <a:r>
              <a:rPr lang="en-IN" b="1" dirty="0"/>
              <a:t>Net Banking</a:t>
            </a:r>
            <a:r>
              <a:rPr lang="en-IN" dirty="0"/>
              <a:t>, and </a:t>
            </a:r>
            <a:r>
              <a:rPr lang="en-IN" b="1" dirty="0"/>
              <a:t>UPI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7. Monthly Revenue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Revenue and fee collection show a gradual downward trend, indicating fewer admissions or delayed fee payments in recent months.</a:t>
            </a:r>
          </a:p>
        </p:txBody>
      </p:sp>
    </p:spTree>
    <p:extLst>
      <p:ext uri="{BB962C8B-B14F-4D97-AF65-F5344CB8AC3E}">
        <p14:creationId xmlns:p14="http://schemas.microsoft.com/office/powerpoint/2010/main" val="694325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FAB81-593B-ADCB-447D-576004B80712}"/>
              </a:ext>
            </a:extLst>
          </p:cNvPr>
          <p:cNvSpPr txBox="1"/>
          <p:nvPr/>
        </p:nvSpPr>
        <p:spPr>
          <a:xfrm>
            <a:off x="2037348" y="712602"/>
            <a:ext cx="77322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Recommendations</a:t>
            </a:r>
          </a:p>
          <a:p>
            <a:pPr>
              <a:buNone/>
            </a:pPr>
            <a:r>
              <a:rPr lang="en-IN" sz="2000" dirty="0"/>
              <a:t>Based on the analysis: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Increase investment in high-performing lead 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follow-up for pending fee payments.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Focus marketing efforts on high-performing courses.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Increase placement support for low-performing branches.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Monitor </a:t>
            </a:r>
            <a:r>
              <a:rPr lang="en-IN" sz="2000" dirty="0" err="1"/>
              <a:t>counselor</a:t>
            </a:r>
            <a:r>
              <a:rPr lang="en-IN" sz="2000" dirty="0"/>
              <a:t> performance using KPI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monthly trends for forecasting admissions and revenue.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10066-35E5-755F-0D08-5DF0DA4471A7}"/>
              </a:ext>
            </a:extLst>
          </p:cNvPr>
          <p:cNvSpPr txBox="1"/>
          <p:nvPr/>
        </p:nvSpPr>
        <p:spPr>
          <a:xfrm>
            <a:off x="2037347" y="3590854"/>
            <a:ext cx="77322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dirty="0"/>
              <a:t>The Business Performance Analytics Dashboard successfully transformed raw educational business data into meaningful insights through interactive visualizations.</a:t>
            </a:r>
          </a:p>
          <a:p>
            <a:pPr>
              <a:buNone/>
            </a:pPr>
            <a:r>
              <a:rPr lang="en-IN" dirty="0"/>
              <a:t>The solution enables management to monitor admissions, marketing, placements, and financial performance in one centralized platform. It reduces manual reporting effort, improves decision-making, and supports strategic planning through real-time analytics.</a:t>
            </a:r>
          </a:p>
        </p:txBody>
      </p:sp>
    </p:spTree>
    <p:extLst>
      <p:ext uri="{BB962C8B-B14F-4D97-AF65-F5344CB8AC3E}">
        <p14:creationId xmlns:p14="http://schemas.microsoft.com/office/powerpoint/2010/main" val="2105623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44</TotalTime>
  <Words>1238</Words>
  <Application>Microsoft Office PowerPoint</Application>
  <PresentationFormat>Widescreen</PresentationFormat>
  <Paragraphs>203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Kitukale</dc:creator>
  <cp:lastModifiedBy>Pratik Kitukale</cp:lastModifiedBy>
  <cp:revision>2</cp:revision>
  <dcterms:created xsi:type="dcterms:W3CDTF">2026-07-30T10:12:51Z</dcterms:created>
  <dcterms:modified xsi:type="dcterms:W3CDTF">2026-07-31T10:44:24Z</dcterms:modified>
</cp:coreProperties>
</file>